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/>
          </p:cNvSpPr>
          <p:nvPr/>
        </p:nvSpPr>
        <p:spPr>
          <a:xfrm>
            <a:off x="128016" y="6236208"/>
            <a:ext cx="11932920" cy="466344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28016" y="6236208"/>
            <a:ext cx="1037844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>
            <a:off x="73152" y="73152"/>
            <a:ext cx="12042648" cy="6711696"/>
          </a:xfrm>
          <a:prstGeom prst="roundRect">
            <a:avLst/>
          </a:prstGeom>
          <a:noFill/>
          <a:ln w="27940">
            <a:solidFill>
              <a:srgbClr val="7A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/>
          <p:cNvSpPr/>
          <p:nvPr/>
        </p:nvSpPr>
        <p:spPr>
          <a:xfrm>
            <a:off x="109728" y="91440"/>
            <a:ext cx="1024128" cy="438912"/>
          </a:xfrm>
          <a:prstGeom prst="arc">
            <a:avLst/>
          </a:prstGeom>
          <a:noFill/>
          <a:ln w="12700">
            <a:solidFill>
              <a:srgbClr val="2F8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164592" y="91440"/>
            <a:ext cx="731520" cy="292608"/>
          </a:xfrm>
          <a:prstGeom prst="arc">
            <a:avLst/>
          </a:prstGeom>
          <a:noFill/>
          <a:ln w="12700">
            <a:solidFill>
              <a:srgbClr val="2F8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228600" y="91440"/>
            <a:ext cx="438912" cy="164592"/>
          </a:xfrm>
          <a:prstGeom prst="arc">
            <a:avLst/>
          </a:prstGeom>
          <a:noFill/>
          <a:ln w="12700">
            <a:solidFill>
              <a:srgbClr val="2F8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cmu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83464"/>
            <a:ext cx="612648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3480" y="877824"/>
            <a:ext cx="2221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HCM-UTE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189720"/>
            <a:ext cx="10177272" cy="22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1550" b="1" i="0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485051"/>
            <a:ext cx="8439912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D9EEFA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2907792" y="1755648"/>
            <a:ext cx="6373368" cy="10972"/>
          </a:xfrm>
          <a:prstGeom prst="rect">
            <a:avLst/>
          </a:prstGeom>
          <a:solidFill>
            <a:srgbClr val="6D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4944" y="2323126"/>
            <a:ext cx="10799064" cy="1461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500" b="1" i="0" dirty="0">
                <a:solidFill>
                  <a:srgbClr val="FFFFFF"/>
                </a:solidFill>
                <a:latin typeface="Arial"/>
              </a:rPr>
              <a:t>NGHIÊN CỨU PHÁT TRIỂN HỆ THỐNG ĐA TÁC THỂ</a:t>
            </a:r>
            <a:br>
              <a:rPr lang="vi-VN" dirty="0"/>
            </a:br>
            <a:r>
              <a:rPr lang="vi-VN" sz="2500" b="1" i="0" dirty="0">
                <a:solidFill>
                  <a:srgbClr val="FFFFFF"/>
                </a:solidFill>
                <a:latin typeface="Arial"/>
              </a:rPr>
              <a:t>PHÁT HIỆN GIẢ MẠO ĐA PHƯƠNG THỨC</a:t>
            </a:r>
            <a:br>
              <a:rPr lang="vi-VN" dirty="0"/>
            </a:br>
            <a:r>
              <a:rPr lang="vi-VN" sz="2500" b="1" i="0" dirty="0">
                <a:solidFill>
                  <a:srgbClr val="FFFFFF"/>
                </a:solidFill>
                <a:latin typeface="Arial"/>
              </a:rPr>
              <a:t>DỰA TRÊN FINE-TUNING TRANSFORMER VÀ TEMPERATURE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80560"/>
            <a:ext cx="10579608" cy="2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Arial"/>
              </a:rPr>
              <a:t>Chuyên </a:t>
            </a:r>
            <a:r>
              <a:rPr lang="en-US" sz="1400" b="1" i="0" dirty="0" err="1">
                <a:solidFill>
                  <a:srgbClr val="FFFFFF"/>
                </a:solidFill>
                <a:latin typeface="Arial"/>
              </a:rPr>
              <a:t>ngành</a:t>
            </a:r>
            <a:r>
              <a:rPr lang="en-US" sz="1400" b="1" i="0" dirty="0">
                <a:solidFill>
                  <a:srgbClr val="FFFFFF"/>
                </a:solidFill>
                <a:latin typeface="Arial"/>
              </a:rPr>
              <a:t>:  |   Thời </a:t>
            </a:r>
            <a:r>
              <a:rPr lang="en-US" sz="1400" b="1" i="0" dirty="0" err="1">
                <a:solidFill>
                  <a:srgbClr val="FFFFFF"/>
                </a:solidFill>
                <a:latin typeface="Arial"/>
              </a:rPr>
              <a:t>gian</a:t>
            </a:r>
            <a:r>
              <a:rPr lang="en-US" sz="1400" b="1" i="0" dirty="0">
                <a:solidFill>
                  <a:srgbClr val="FFFFFF"/>
                </a:solidFill>
                <a:latin typeface="Arial"/>
              </a:rPr>
              <a:t> thực hiện: 2026 – 2029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76572"/>
            <a:ext cx="10689336" cy="409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1400" b="0" i="0" dirty="0">
                <a:solidFill>
                  <a:srgbClr val="D9EEFA"/>
                </a:solidFill>
                <a:latin typeface="Arial"/>
              </a:rPr>
              <a:t>Nghiên cứu sinh: [Họ và tên NCS]   •   Cán bộ Hướng dẫn Khoa học: [GS / PGS Hướng dẫn]</a:t>
            </a:r>
            <a:br>
              <a:rPr lang="vi-VN" dirty="0"/>
            </a:br>
            <a:r>
              <a:rPr lang="vi-VN" sz="1400" b="0" i="0" dirty="0">
                <a:solidFill>
                  <a:srgbClr val="D9EEFA"/>
                </a:solidFill>
                <a:latin typeface="Arial"/>
              </a:rPr>
              <a:t>Cơ sở: [Trường Đại học / Viện]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6322227"/>
            <a:ext cx="5641848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1" i="0">
                <a:solidFill>
                  <a:srgbClr val="0072BC"/>
                </a:solidFill>
                <a:latin typeface="Arial"/>
              </a:rPr>
              <a:t>N H Â N  B Ả N   •   S Á N G  T Ạ O   •   H Ộ I  N H Ậ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05648"/>
            <a:ext cx="107442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en-US" sz="2200" b="1">
                <a:solidFill>
                  <a:srgbClr val="005A96"/>
                </a:solidFill>
                <a:latin typeface="Arial"/>
              </a:rPr>
              <a:t>Bối Cảnh Nghiên Cứu &amp; 3 Thách Thức Cốt Lõi (2025 - 2026)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3337560" cy="3954780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1. Bùng Nổ GenAI Đa Thức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49397"/>
            <a:ext cx="2971800" cy="22221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Chuyển dịch Thế hệ: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Từ GANs truyền thống sang Latent Diffusion, Flow Matching &amp; Diffusion Transformers (DiT).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Hình ảnh (Image):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Stable Diffusion 3, Flux.1, Midjourney v6 phá vỡ dấu vết ghép ảnh thông thường.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Video &amp; Avatar: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Sora, Runway Gen-3, 3DGS Head Avatars sinh video siêu thực theo thời gian thực.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Giọng nói (Audio):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Zero-shot Voice Cloning và Talking-head Deepfake phục vụ lừa đảo tài chính tinh 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395728"/>
            <a:ext cx="3337560" cy="3954780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2. Ba Điểm Nghẽn Kỹ Thuật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949397"/>
            <a:ext cx="2971800" cy="22221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Suy giảm OOD: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Độ chính xác sụt giảm 30-40% khi gặp kiến trúc sinh mới ngoài tập huấn luyện.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Overconfidence: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Mạng nơ-ron sâu tự tin thái quá (&gt;99%) ngay cả với các mẫu biên giới bị phân loại sai.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Nén Lossy Mạng XH: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Bộ lọc H.264/JPEG của Threads/TikTok xóa mờ các đặc trưng pixel nông.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Thiếu Căn cứ Pháp lý: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Kết quả đầu ra chỉ là 1 số thực đơn lẻ [0, 1], không có giá trị bằng chứng số pháp lý.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2395728"/>
            <a:ext cx="3337560" cy="3954780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3. Yêu Cầu Pháp Lý Quốc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949397"/>
            <a:ext cx="2971800" cy="22221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EU AI Act Điều 50: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Quy định bắt buộc gán nhãn và giám định có thể kiểm toán (auditable) đối với nội dung 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Đạo luật DSA: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Trách nhiệm giải trình của các nền tảng mạng xã hội trong việc ngăn chặn lừa đảo danh tính.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Chứng thư Số: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Bắt buộc có cấu trúc JSON minh bạch với dấu vết bằng chứng (hash SHA-256, phổ, sinh trắc).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Mục tiêu Đề tài: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Hợp nhất Toán học, Mô hình Song luồng và Hệ tác thể giải trình song ngữ Anh - Việt.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95728"/>
            <a:ext cx="333756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6552" y="2395728"/>
            <a:ext cx="333756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2395728"/>
            <a:ext cx="333756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vi-VN" sz="2000" b="1">
                <a:solidFill>
                  <a:srgbClr val="005A96"/>
                </a:solidFill>
                <a:latin typeface="Arial"/>
              </a:rPr>
              <a:t>Kiến Trúc Mô Hình Song Luồng Đa Phương Thức (Dual-Stream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10728655" cy="870051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81644"/>
            <a:ext cx="10362895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Cổng Phân Loại Sinh Trắc Học Tự Động (Pre-flight Human Presence Gate)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51658"/>
            <a:ext cx="10332720" cy="3877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rPr lang="vi-VN" sz="1140">
                <a:solidFill>
                  <a:srgbClr val="1E2D3D"/>
                </a:solidFill>
                <a:latin typeface="Arial"/>
              </a:rPr>
              <a:t>• HOG Face Detector (Quét khuôn mặt) + YCbCr Skin-tone Cluster (Cb ∈ [77, 127], Cr ∈ [133, 173]). Nếu KHÔNG chứa sinh trắc người → Chạy Single-Stream (tiết kiệm 60% compute). Nếu PHÁT HIỆN người → Kích hoạt Song Luồng (Dual-Stream).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3970"/>
            <a:ext cx="5212080" cy="3084728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94497"/>
            <a:ext cx="484632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Luồng 1: General Vision &amp; Signal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8092"/>
            <a:ext cx="4846320" cy="159428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Backbone: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Vision Transformer (ViT-Base patch 16x16) trích xuất đặc trưng ngữ nghĩa thị giác sâu.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2D Fast Fourier (FFT):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Phân tích phổ tần số góc Azimuthal (Z_peak) bắt gai quang phổ lưới sinh 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2D Haar DWT: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Đo năng lượng dải tần cao (E_high) phát hiện làm mịn kết cấu nhân tạo.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Spatial Variance: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Đo sai phân phương sai nhiễu giữa vùng khuôn mặt và phông nền ngoại 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423970"/>
            <a:ext cx="5212080" cy="3084728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0975" y="3604500"/>
            <a:ext cx="4846320" cy="2400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855F7"/>
                </a:solidFill>
              </a:defRPr>
            </a:pPr>
            <a:r>
              <a:rPr lang="en-US" sz="1320" b="1">
                <a:solidFill>
                  <a:srgbClr val="005A96"/>
                </a:solidFill>
                <a:latin typeface="Arial"/>
              </a:rPr>
              <a:t>Luồng 2: Human Biometric &amp; Physiology (Sinh Trắc Học)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3938092"/>
            <a:ext cx="4846320" cy="159428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rPPG Vascular Pulse: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Phân tích vi biến thiên màu da mao mạch theo chu kỳ tim (Heartbeat inconsistency).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DF26 Lip-Sync: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Mạng đối chiếu không-thời gian bắt lệch pha giữa khẩu hình môi và ngữ âm.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WavLM L12 SSL: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Vector đặc trưng giọng nói 768 chiều từ Layer 12 phát hiện cloning thanh quản.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40" b="1">
                <a:solidFill>
                  <a:srgbClr val="1E2D3D"/>
                </a:solidFill>
                <a:latin typeface="Arial"/>
              </a:rPr>
              <a:t>• Tổng Hợp Thích Ứng: </a:t>
            </a:r>
            <a:r>
              <a:rPr lang="vi-VN" sz="1140" b="0">
                <a:solidFill>
                  <a:srgbClr val="1E2D3D"/>
                </a:solidFill>
                <a:latin typeface="Arial"/>
              </a:rPr>
              <a:t>Risk_composite = 0.40 * Risk_General + 0.60 * Risk_Human (Hiệu chuẩn Platt T* &amp; tau*).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95728"/>
            <a:ext cx="10728655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23970"/>
            <a:ext cx="52120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48095" y="3423970"/>
            <a:ext cx="52120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05648"/>
            <a:ext cx="107442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vi-VN" sz="2200" b="1">
                <a:solidFill>
                  <a:srgbClr val="005A96"/>
                </a:solidFill>
                <a:latin typeface="Arial"/>
              </a:rPr>
              <a:t>Đánh Giá Ưu Điểm &amp; Nhược Điểm của Mô Hình (Model Analysis)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6255"/>
            <a:ext cx="484632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✅ Ưu Điểm Nổi Bật (Key Strengths)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9849"/>
            <a:ext cx="4846320" cy="18887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Loại trừ Thiên Lệch (Zero Bias):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Không bị nhầm lẫn giữa ảnh/video người và tranh ảnh nghệ thuật AI phi-sinh trắc học.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Bắt Được Artifacts Thế Hệ Mới: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Miền tần số 2D FFT &amp; DWT bất biến với các thuật toán sinh ảnh mới như Flux.1 / SD3.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Tiết Kiệm 60% Tài Nguyên: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Cơ chế Pre-flight Gate ngắt luồng Biometric khi xử lý ảnh phong cảnh, vật thể.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Khả Năng Giải Trình Cao: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Xuất trực tiếp bản đồ nhiệt 8x8 Patch Heatmap khoanh vùng can thiệp viền tráo mặt.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Đạt Chuẩn Pháp Lý EU AI Act: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Không phải là black-box scalar; cung cấp chứng thư số minh bạch đa chiều.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2576258"/>
            <a:ext cx="4846320" cy="2400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</a:defRPr>
            </a:pPr>
            <a:r>
              <a:rPr lang="en-US" sz="1320" b="1">
                <a:solidFill>
                  <a:srgbClr val="005A96"/>
                </a:solidFill>
                <a:latin typeface="Arial"/>
              </a:rPr>
              <a:t>❌ Hạn Chế &amp; Thách Thức (Limitations &amp; Bottlenecks)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909849"/>
            <a:ext cx="4846320" cy="18887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Độ Phức Tạp Kiến Trúc: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Đòi hỏi đồng bộ 2 luồng song song, phức tạp hơn các mạng CNN/ViT đơn lẻ truyền thống.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Yêu Cầu VRAM GPU: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Cần tối thiểu 6GB - 8GB VRAM để chạy đồng thời cả hai mô hình khi batch size lớn.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Nhạy Cảm Với Nén Cực Độ: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Video bị nén quá thấp (bitrate &lt; 200kbps trên Zalo) có thể làm giảm độ nét tín hiệu rPPG.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Phụ Thuộc Căn Cước Khuôn Mặt: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Khi đối tượng đeo mặt nạ dày hoặc quay lưng hoàn toàn, Luồng 2 tự động suy giảm trọng số.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Thời Gian Tiền Xử Lý: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Trích xuất FFT + DWT tốn thêm 10-15ms so với nạp thẳng tensor vào mạng.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52120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095" y="2395728"/>
            <a:ext cx="52120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0" name="Oval 19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vi-VN" sz="2000" b="1">
                <a:solidFill>
                  <a:srgbClr val="005A96"/>
                </a:solidFill>
                <a:latin typeface="Arial"/>
              </a:rPr>
              <a:t>Phương Pháp Huấn Luyện &amp; Pipeline Học Máy Liên Tục (Training Methodology)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3337560" cy="2610154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1. Huấn Luyện 2 Giai Đoạn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9849"/>
            <a:ext cx="2971800" cy="11038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E2D3D"/>
                </a:solidFill>
                <a:latin typeface="Arial"/>
              </a:rPr>
              <a:t>• Giai đoạn 1 (Warmup): </a:t>
            </a:r>
            <a:r>
              <a:rPr lang="en-US" sz="1100" b="0">
                <a:solidFill>
                  <a:srgbClr val="1E2D3D"/>
                </a:solidFill>
                <a:latin typeface="Arial"/>
              </a:rPr>
              <a:t>Đóng băng backbone ViT, chỉ train classification head (LR = 1e-3, 2 epochs).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E2D3D"/>
                </a:solidFill>
                <a:latin typeface="Arial"/>
              </a:rPr>
              <a:t>• Giai đoạn 2 (Full Tuning): </a:t>
            </a:r>
            <a:r>
              <a:rPr lang="en-US" sz="1100" b="0">
                <a:solidFill>
                  <a:srgbClr val="1E2D3D"/>
                </a:solidFill>
                <a:latin typeface="Arial"/>
              </a:rPr>
              <a:t>Mở khóa toàn bộ mạng với Cosine Annealing (LR = 1e-5), bảo toàn tri thức nền.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395728"/>
            <a:ext cx="3337560" cy="2610154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2. Parquet Feature 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909849"/>
            <a:ext cx="2971800" cy="11038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Nén 100 Lần: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1.2M mẫu đa phương thức (300 GB) nén thành ~2.5 GB bảng đặc trưng Parquet.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100" b="1">
                <a:solidFill>
                  <a:srgbClr val="1E2D3D"/>
                </a:solidFill>
                <a:latin typeface="Arial"/>
              </a:rPr>
              <a:t>• Zero FUSE Bottleneck: </a:t>
            </a:r>
            <a:r>
              <a:rPr lang="vi-VN" sz="1100" b="0">
                <a:solidFill>
                  <a:srgbClr val="1E2D3D"/>
                </a:solidFill>
                <a:latin typeface="Arial"/>
              </a:rPr>
              <a:t>Loại bỏ hoàn toàn nghẽn I/O đọc tệp trên Google Drive; nạp trực tiếp vào GPU VRAM.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2395728"/>
            <a:ext cx="3337560" cy="2610154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2566255"/>
            <a:ext cx="297180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855F7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3. Học Liên Tục 4 Giờ/Lần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909849"/>
            <a:ext cx="2971800" cy="11038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E2D3D"/>
                </a:solidFill>
                <a:latin typeface="Arial"/>
              </a:rPr>
              <a:t>• Tự Động 100%: </a:t>
            </a:r>
            <a:r>
              <a:rPr lang="en-US" sz="1100" b="0">
                <a:solidFill>
                  <a:srgbClr val="1E2D3D"/>
                </a:solidFill>
                <a:latin typeface="Arial"/>
              </a:rPr>
              <a:t>Colab Pro Scheduled Runner kích hoạt định kỳ 4h, cào media mới từ Threads.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E2D3D"/>
                </a:solidFill>
                <a:latin typeface="Arial"/>
              </a:rPr>
              <a:t>• Zero-Downtime Reload: </a:t>
            </a:r>
            <a:r>
              <a:rPr lang="en-US" sz="1100" b="0">
                <a:solidFill>
                  <a:srgbClr val="1E2D3D"/>
                </a:solidFill>
                <a:latin typeface="Arial"/>
              </a:rPr>
              <a:t>Callback nạp trọng số mới vYYYY-MM-DD vào RAM Server mà không cần restart.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4074"/>
            <a:ext cx="10728655" cy="1423720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34601"/>
            <a:ext cx="10362895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</a:defRPr>
            </a:pPr>
            <a:r>
              <a:rPr lang="vi-VN" sz="1450" b="1">
                <a:solidFill>
                  <a:srgbClr val="005A96"/>
                </a:solidFill>
                <a:latin typeface="Arial"/>
              </a:rPr>
              <a:t>⚖️ Đánh Giá Ưu &amp; Nhược Điểm Quy Trình Huấn Luyện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20004"/>
            <a:ext cx="10362895" cy="789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rPr lang="vi-VN" sz="1140">
                <a:solidFill>
                  <a:srgbClr val="1E2D3D"/>
                </a:solidFill>
                <a:latin typeface="Arial"/>
              </a:rPr>
              <a:t>• Ưu điểm: Tốc độ huấn luyện siêu tốc (1 epoch trên 1.2M mẫu chỉ mất ~4-6 phút nhờ Parquet); chi phí điện toán cực rẻ (tận dụng GPU Cloud Google Colab); thích ứng tức thì với các thủ đoạn giả mạo mới trên Threads.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rPr lang="vi-VN" sz="1140">
                <a:solidFill>
                  <a:srgbClr val="1E2D3D"/>
                </a:solidFill>
                <a:latin typeface="Arial"/>
              </a:rPr>
              <a:t>• Nhược điểm &amp; Thách thức: Đòi hỏi tiền xử lý vector hóa ban đầu; cần thuật toán Negative Mining nghiêm ngặt để chống trôi dạt mô hình (Model Drift) khi cào dữ liệu in-the-wild không được gán nhãn thủ công.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95728"/>
            <a:ext cx="333756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16552" y="2395728"/>
            <a:ext cx="333756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2395728"/>
            <a:ext cx="333756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164074"/>
            <a:ext cx="10728655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8" name="Oval 27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en-US" sz="2000" b="1">
                <a:solidFill>
                  <a:srgbClr val="005A96"/>
                </a:solidFill>
                <a:latin typeface="Arial"/>
              </a:rPr>
              <a:t>Hiệu Chuẩn Xác Suất Hậu Nghiệm (Post-Hoc Probability Calibration)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6255"/>
            <a:ext cx="484632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1. Platt Temperature Scaling (T* = 1.6178)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9849"/>
            <a:ext cx="4846320" cy="15081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Vấn đề Overconfidence: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Mạng nơ-ron sâu thường đưa ra xác suất cực đoan p &gt; 0.99 dù mẫu đó nằm ở biên giới OOD.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Công thức Biến đổi: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P(y = 1 | x) = 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σ(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z / T*), trong đó z là raw logit, T* là tham số nhiệt độ dương.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Tối ưu hóa NLL: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Học T* bằng cách cực tiểu hóa hàm mất mát Negative Log-Likelihood trên tập Validation độc lập.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Hạ Thấp ECE: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Chỉ số Expected Calibration Error giảm từ 15.4% xuống dưới 2.8%, đưa xác suất về đúng tần suất thực nghiệm.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2566255"/>
            <a:ext cx="484632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vi-VN" sz="1450" b="1">
                <a:solidFill>
                  <a:srgbClr val="005A96"/>
                </a:solidFill>
                <a:latin typeface="Arial"/>
              </a:rPr>
              <a:t>2. Ngưỡng Phân Quyết Youden's J (</a:t>
            </a:r>
            <a:r>
              <a:rPr lang="el-GR" sz="1450" b="1">
                <a:solidFill>
                  <a:srgbClr val="005A96"/>
                </a:solidFill>
                <a:latin typeface="Arial"/>
              </a:rPr>
              <a:t>τ* = 0.8118)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909849"/>
            <a:ext cx="4846320" cy="15081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Sai lầm của Ngưỡng 0.5: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Ngưỡng mặc định 0.5 gây bùng nổ tỷ lệ dương tính giả (False Positives) trên dữ liệu nén mạng xã hội.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Công thức Youden's J: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J(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τ) =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TPR(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τ) -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FPR(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τ) =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Độ nhạy(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τ) +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Độ đặc hiệu(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τ) - 1.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Tìm cực đại trên đường cong ROC.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Điểm Cắt Tối Ưu: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Xác lập ngưỡng quyết định </a:t>
            </a:r>
            <a:r>
              <a:rPr lang="el-GR" sz="1070" b="0">
                <a:solidFill>
                  <a:srgbClr val="1E2D3D"/>
                </a:solidFill>
                <a:latin typeface="Arial"/>
              </a:rPr>
              <a:t>τ* = 0.8118,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triệt tiêu tối đa rủi ro báo động giả cho người dùng.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Ý nghĩa Thực tiễn: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Đảm bảo tính nghiêm ngặt tư pháp: Thà gắn cờ nghi vấn cần chuyên gia kiểm tra hơn là kết luận sai lệch.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52120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095" y="2395728"/>
            <a:ext cx="52120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0" name="Oval 19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en-US" sz="2000" b="1">
                <a:solidFill>
                  <a:srgbClr val="005A96"/>
                </a:solidFill>
                <a:latin typeface="Arial"/>
              </a:rPr>
              <a:t>Hệ Thống 14 Bộ Benchmark Quốc Tế &amp; 5 Phân Lớp Sinh Trắc Học Việt Nam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621792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6255"/>
            <a:ext cx="585216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450" b="1">
                <a:solidFill>
                  <a:srgbClr val="005A96"/>
                </a:solidFill>
                <a:latin typeface="Arial"/>
              </a:rPr>
              <a:t>14 Bộ Dữ Liệu Benchmark Chuẩn Quốc Tế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46076"/>
              </p:ext>
            </p:extLst>
          </p:nvPr>
        </p:nvGraphicFramePr>
        <p:xfrm>
          <a:off x="914400" y="2949397"/>
          <a:ext cx="5852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vi-VN" sz="919" b="1">
                          <a:solidFill>
                            <a:srgbClr val="FFFFFF"/>
                          </a:solidFill>
                          <a:latin typeface="Arial"/>
                        </a:rPr>
                        <a:t>Phương Thức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919" b="1">
                          <a:solidFill>
                            <a:srgbClr val="FFFFFF"/>
                          </a:solidFill>
                          <a:latin typeface="Arial"/>
                        </a:rPr>
                        <a:t>Tên Bộ Benchmark Quốc Tế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919" b="1">
                          <a:solidFill>
                            <a:srgbClr val="FFFFFF"/>
                          </a:solidFill>
                          <a:latin typeface="Arial"/>
                        </a:rPr>
                        <a:t>Số Mẫu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1. Hình Ảnh (Image)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NTIRE 2024, CIFAKE, DFFD, DF40 (2026), DeepDetect-2025, 140k Real/Fake Faces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450,000+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2. Video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Celeb-DF v2 &amp; Celeb-DF++ (2025), FaceForensics++, HiDF, SARAAB DESC 2026 (7s)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280,000+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3. Âm Thanh &amp; LipSync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DeepSpeak (2024-2025), FakeAVCeleb, WaveFake, ASVspoof 2021/2024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180,000+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4. Siêu Tập OOD &amp; Local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Mega-MMDF (1.1M mẫu), Omni-Fake 2026 (1.2M OOD) + Threads Vietnamese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919" b="0">
                          <a:solidFill>
                            <a:srgbClr val="1E2D3D"/>
                          </a:solidFill>
                          <a:latin typeface="Arial"/>
                        </a:rPr>
                        <a:t>1,200,000+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2395728"/>
            <a:ext cx="4327855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2566255"/>
            <a:ext cx="3962095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855F7"/>
                </a:solidFill>
              </a:defRPr>
            </a:pPr>
            <a:r>
              <a:rPr lang="vi-VN" sz="1450" b="1">
                <a:solidFill>
                  <a:srgbClr val="005A96"/>
                </a:solidFill>
                <a:latin typeface="Arial"/>
              </a:rPr>
              <a:t>5 Phân Lớp Sinh Trắc Học Người Việt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09849"/>
            <a:ext cx="3962095" cy="18887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vn_id_official: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Ảnh thẻ Căn cước công dân (CCCD), hộ chiếu (chống mở tài khoản ngân hàng rác eKYC).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vn_selfie_lifestyle: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Ảnh/video tự chụp cận mặt đời thường trong môi trường sinh hoạt.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vn_street_outdoor: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Video đường phố, ánh sáng tự nhiên phức tạp, xe cộ di chuyển.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vn_occlusion_mask: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Mặt đeo khẩu trang y tế, kính râm, che khuất một phần bộ nhận diện.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vn_mature_aging: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Người trung niên, cao tuổi với nếp nhăn tự nhiên (đối tượng chính của lừa đảo video call).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621792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2395728"/>
            <a:ext cx="4327855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0" name="Oval 19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vi-VN" sz="2000" b="1">
                <a:solidFill>
                  <a:srgbClr val="005A96"/>
                </a:solidFill>
                <a:latin typeface="Arial"/>
              </a:rPr>
              <a:t>Kết Quả Thực Nghiệm &amp; Đối Chiếu Với Các Mô Hình Cơ Sở (SOTA Comparison)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10728655" cy="332201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81644"/>
            <a:ext cx="10362895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Bảng Đối Chiếu Chỉ Số Kiểm Định Trên Tập Độc Lập Out-Of-Distribution (OOD)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46481"/>
              </p:ext>
            </p:extLst>
          </p:nvPr>
        </p:nvGraphicFramePr>
        <p:xfrm>
          <a:off x="914400" y="2949397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Kiến Trúc Mô Hình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Độ Chính Xác (Acc)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Diện Tích ROC (AUC)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Tỷ Lệ Lỗi (EER)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Sai Số ECE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FFFFFF"/>
                          </a:solidFill>
                          <a:latin typeface="Arial"/>
                        </a:rPr>
                        <a:t>Độ Trễ (Latency)</a:t>
                      </a:r>
                    </a:p>
                  </a:txBody>
                  <a:tcPr marL="36576" marR="36576" marT="27432" marB="27432" anchor="ctr">
                    <a:solidFill>
                      <a:srgbClr val="0072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vi-VN" sz="869" b="0">
                          <a:solidFill>
                            <a:srgbClr val="1E2D3D"/>
                          </a:solidFill>
                          <a:latin typeface="Arial"/>
                        </a:rPr>
                        <a:t>MesoNet-4 (CNN Cơ sở)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73.2%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0.784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0.224 (22.4%)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0.218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45ms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XceptionNet (FaceForensics++)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81.5%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0.862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0.148 (14.8%)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0.185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62ms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EfficientNet-B4 (Chuẩn phổ biến)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86.7%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0.912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0.098 (9.8%)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0.142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78ms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vi-VN" sz="869" b="0">
                          <a:solidFill>
                            <a:srgbClr val="1E2D3D"/>
                          </a:solidFill>
                          <a:latin typeface="Arial"/>
                        </a:rPr>
                        <a:t>ViT-Base Gốc (Chưa hiệu chuẩn)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92.4%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0.965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0.052 (5.2%)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0.154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rPr lang="en-US" sz="869" b="0">
                          <a:solidFill>
                            <a:srgbClr val="1E2D3D"/>
                          </a:solidFill>
                          <a:latin typeface="Arial"/>
                        </a:rPr>
                        <a:t>82ms</a:t>
                      </a:r>
                    </a:p>
                  </a:txBody>
                  <a:tcPr marL="36576" marR="36576" marT="27432" marB="27432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⭐ Đề Xuất: Dual-Stream + Calibrated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99.4% (Ảnh)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98.7% (Video)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0.998 - 0.999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0.011 (1.1%)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&lt; 0.028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85ms (Ảnh)</a:t>
                      </a:r>
                    </a:p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lang="en-US" sz="869" b="1">
                          <a:solidFill>
                            <a:srgbClr val="005A96"/>
                          </a:solidFill>
                          <a:latin typeface="Arial"/>
                        </a:rPr>
                        <a:t>320ms (Video 7s)</a:t>
                      </a:r>
                    </a:p>
                  </a:txBody>
                  <a:tcPr marL="36576" marR="36576" marT="27432" marB="27432" anchor="ctr"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96838"/>
            <a:ext cx="10728655" cy="790956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875934"/>
            <a:ext cx="10362895" cy="3877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rPr lang="en-US" sz="1140">
                <a:solidFill>
                  <a:srgbClr val="1E2D3D"/>
                </a:solidFill>
              </a:rPr>
              <a:t>🎯 </a:t>
            </a:r>
            <a:r>
              <a:rPr lang="vi-VN" sz="1140">
                <a:solidFill>
                  <a:srgbClr val="1E2D3D"/>
                </a:solidFill>
              </a:rPr>
              <a:t>Đột phá: AUC đạt xấp xỉ tuyệt đối (0.998 - 0.999), EER giảm sâu xuống 1.1% (thấp hơn 5-10 lần các baseline). ECE giảm từ 0.154 xuống dưới 0.028 chứng minh mô hình triệt tiêu hoàn toàn căn bệnh tự tin thái quá của Deep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95728"/>
            <a:ext cx="10728655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5796838"/>
            <a:ext cx="10728655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vi-VN" sz="2000" b="1">
                <a:solidFill>
                  <a:srgbClr val="005A96"/>
                </a:solidFill>
                <a:latin typeface="Arial"/>
              </a:rPr>
              <a:t>Hệ Thống Đa Tác Thể &amp; Chứng Thư Giám Định Số (EU AI Act Compliance)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2468880" cy="205648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81644"/>
            <a:ext cx="210312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Orchestrator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70301"/>
            <a:ext cx="2194560" cy="5309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rPr lang="en-US" sz="1070">
                <a:solidFill>
                  <a:srgbClr val="1E2D3D"/>
                </a:solidFill>
                <a:latin typeface="Arial"/>
              </a:rPr>
              <a:t>Điều phối luồng công việc, kiểm tra pre-flight gate, kích hoạt các agent chuyên gia theo nhu cầu.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95728"/>
            <a:ext cx="2468880" cy="205648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581644"/>
            <a:ext cx="210312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855F7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Detection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70301"/>
            <a:ext cx="2194560" cy="6955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rPr lang="en-US" sz="1070">
                <a:solidFill>
                  <a:srgbClr val="1E2D3D"/>
                </a:solidFill>
                <a:latin typeface="Arial"/>
              </a:rPr>
              <a:t>Thực thi tính toán mô hình ViT, biến đổi 2D FFT, Haar DWT và trích xuất nhịp mạch mao mạch rPPG.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95728"/>
            <a:ext cx="2468880" cy="205648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581644"/>
            <a:ext cx="210312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Analysis Agent 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70301"/>
            <a:ext cx="2194560" cy="5309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rPr lang="en-US" sz="1070">
                <a:solidFill>
                  <a:srgbClr val="1E2D3D"/>
                </a:solidFill>
                <a:latin typeface="Arial"/>
              </a:rPr>
              <a:t>Sử dụng Gemini/Claude tổng hợp các bằng chứng thành báo cáo giải trình chi tiết song ngữ Anh - Việt.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95728"/>
            <a:ext cx="2468880" cy="205648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581644"/>
            <a:ext cx="210312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en-US" sz="1250" b="1">
                <a:solidFill>
                  <a:srgbClr val="005A96"/>
                </a:solidFill>
                <a:latin typeface="Arial"/>
              </a:rPr>
              <a:t>SRE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870301"/>
            <a:ext cx="2194560" cy="6955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rPr lang="en-US" sz="1070">
                <a:solidFill>
                  <a:srgbClr val="1E2D3D"/>
                </a:solidFill>
                <a:latin typeface="Arial"/>
              </a:rPr>
              <a:t>Giám sát sức khỏe container, logging ClickHouse/Loki, kiểm tra độ trễ và cảnh báo vi phạm bảo mật.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89500"/>
            <a:ext cx="10728655" cy="1898294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75416"/>
            <a:ext cx="10362895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vi-VN" sz="1250" b="1">
                <a:solidFill>
                  <a:srgbClr val="005A96"/>
                </a:solidFill>
                <a:latin typeface="Arial"/>
              </a:rPr>
              <a:t>Cấu Trúc Chứng Thư Giám Định Số Auditable Digital Forensic Certificate (JSON)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4526"/>
            <a:ext cx="10362895" cy="8494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Định danh Pháp lý: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certificate_id: CERT-DF-XXXXXXXX, timestamp UTC, chuẩn tuân thủ EU AI Act Article 50 &amp; DSA.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Toàn vẹn Tệp (Integrity):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Mã băm SHA-256 tệp gốc, chữ ký số Ed25519-SHA256, URL xác thực công khai /api/verify/{cert_id}.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Bằng chứng Đa chiều: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Passive ViT score, gai quang phổ FFT 2D, sai phân phương sai nhiễu không gian, entropy bất định.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SARAAB Video Audit: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Sliding window 7s, frame-to-frame motion jitter, và bản đồ nhiệt 8x8 Patch Heatmap khoanh vùng can thiệp.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95728"/>
            <a:ext cx="24688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0" y="2395728"/>
            <a:ext cx="24688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395728"/>
            <a:ext cx="24688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395728"/>
            <a:ext cx="24688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689500"/>
            <a:ext cx="10728655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80" y="1188720"/>
            <a:ext cx="685800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32" name="Oval 31"/>
          <p:cNvSpPr/>
          <p:nvPr/>
        </p:nvSpPr>
        <p:spPr>
          <a:xfrm>
            <a:off x="8284464" y="1243584"/>
            <a:ext cx="155448" cy="155448"/>
          </a:xfrm>
          <a:prstGeom prst="ellipse">
            <a:avLst/>
          </a:prstGeom>
          <a:noFill/>
          <a:ln w="1016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21037"/>
            <a:ext cx="1074420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</a:defRPr>
            </a:pPr>
            <a:r>
              <a:rPr lang="en-US" sz="2000" b="1">
                <a:solidFill>
                  <a:srgbClr val="005A96"/>
                </a:solidFill>
                <a:latin typeface="Arial"/>
              </a:rPr>
              <a:t>Tổng Kết Đóng Góp Mới Của Luận Án &amp; Lộ Trình Phát Triển (Conclusions)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76258"/>
            <a:ext cx="4846320" cy="2400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</a:defRPr>
            </a:pPr>
            <a:r>
              <a:rPr lang="en-US" sz="1320" b="1">
                <a:solidFill>
                  <a:srgbClr val="005A96"/>
                </a:solidFill>
              </a:rPr>
              <a:t>💎 Ba Đóng Góp Mới Của Luận Án (Novel Contributions)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9849"/>
            <a:ext cx="4846320" cy="1672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1. Đóng góp Lý thuyết: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Đề xuất khung Song luồng kết hợp hài hòa giữa thị giác sâu ViT và các đặc trưng vật lý - sinh lý học bất biến (2D FFT, rPPG, LipSync).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2. Hiệu chuẩn Toán học: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Mô hình hóa thành công bài toán giải phóng Overconfidence bằng nhiệt độ Platt T* và ngưỡng tối ưu Youden's J.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3. Đóng góp Kỹ thuật &amp; Địa phương: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Xây dựng pipeline Parquet Caching nén 100 lần và bộ dữ liệu 5 phân lớp sinh trắc học đặc thù người Việt Nam.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vi-VN" sz="1070" b="1">
                <a:solidFill>
                  <a:srgbClr val="1E2D3D"/>
                </a:solidFill>
                <a:latin typeface="Arial"/>
              </a:rPr>
              <a:t>• 4. Giá trị Pháp lý &amp; Thực tiễn: </a:t>
            </a:r>
            <a:r>
              <a:rPr lang="vi-VN" sz="1070" b="0">
                <a:solidFill>
                  <a:srgbClr val="1E2D3D"/>
                </a:solidFill>
                <a:latin typeface="Arial"/>
              </a:rPr>
              <a:t>Hệ thống đa tác thể xuất Chứng thư Giám định Số đáp ứng tiêu chuẩn đạo luật AI châu Âu (EU AI Act).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395728"/>
            <a:ext cx="5212080" cy="4033875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2566255"/>
            <a:ext cx="4846320" cy="2600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</a:defRPr>
            </a:pPr>
            <a:r>
              <a:rPr lang="en-US" sz="1450" b="1">
                <a:solidFill>
                  <a:srgbClr val="005A96"/>
                </a:solidFill>
              </a:rPr>
              <a:t>🚀 Lộ Trình Triển Khai (Project Roadmap)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909849"/>
            <a:ext cx="4846320" cy="15081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70" b="1">
                <a:solidFill>
                  <a:srgbClr val="1E2D3D"/>
                </a:solidFill>
                <a:latin typeface="Arial"/>
              </a:rPr>
              <a:t>• ✅ Giai Đoạn 1 (Đã hoàn thành): </a:t>
            </a:r>
            <a:r>
              <a:rPr lang="en-US" sz="1070" b="0">
                <a:solidFill>
                  <a:srgbClr val="1E2D3D"/>
                </a:solidFill>
                <a:latin typeface="Arial"/>
              </a:rPr>
              <a:t>Tích hợp chuẩn cửa sổ 7s SARAAB, Temporal Motion Jitter, bản đồ nhiệt 8x8 Patch Heatmap và Parquet pipeline.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70" b="1">
                <a:solidFill>
                  <a:srgbClr val="1E2D3D"/>
                </a:solidFill>
                <a:latin typeface="Arial"/>
              </a:rPr>
              <a:t>• ⏳ Giai Đoạn 2 (Q4/2026): </a:t>
            </a:r>
            <a:r>
              <a:rPr lang="en-US" sz="1070" b="0">
                <a:solidFill>
                  <a:srgbClr val="1E2D3D"/>
                </a:solidFill>
                <a:latin typeface="Arial"/>
              </a:rPr>
              <a:t>Khi Dubai DESC mở kho mã nguồn SARAAB trên Hugging Face: Tích hợp trực tiếp checkpoint SARAAB làm backbone bổ trợ.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70" b="1">
                <a:solidFill>
                  <a:srgbClr val="1E2D3D"/>
                </a:solidFill>
              </a:rPr>
              <a:t>• 📄 Công Bố Khoa Học: </a:t>
            </a:r>
            <a:r>
              <a:rPr lang="en-US" sz="1070" b="0">
                <a:solidFill>
                  <a:srgbClr val="1E2D3D"/>
                </a:solidFill>
                <a:latin typeface="Arial"/>
              </a:rPr>
              <a:t>Hoàn thiện bản thảo gửi tạp chí quốc tế Q1 ISI (IEEE Transactions on Information Forensics and Security / ACM CCS).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70" b="1">
                <a:solidFill>
                  <a:srgbClr val="1E2D3D"/>
                </a:solidFill>
              </a:rPr>
              <a:t>• 🎓 Bảo Vệ Luận Án: </a:t>
            </a:r>
            <a:r>
              <a:rPr lang="en-US" sz="1070" b="0">
                <a:solidFill>
                  <a:srgbClr val="1E2D3D"/>
                </a:solidFill>
                <a:latin typeface="Arial"/>
              </a:rPr>
              <a:t>Nghiệm thu toàn bộ hệ thống phần mềm, tập dữ liệu chuẩn hóa và hoàn tất luận án tiến sĩ đúng kế hoạch.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5212080" cy="411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095" y="2395728"/>
            <a:ext cx="5212080" cy="41148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cmute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"/>
            <a:ext cx="658368" cy="749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2032" y="246888"/>
            <a:ext cx="8641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TRƯỜNG ĐẠI HỌC CÔNG NGHỆ KỸ THUẬT TP. HỒ CHÍ MINH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6400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Ho Chi Minh City University of Technology and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188720"/>
            <a:ext cx="3459175" cy="310896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1252728"/>
            <a:ext cx="33101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72BC"/>
                </a:solidFill>
                <a:latin typeface="Arial"/>
              </a:rPr>
              <a:t>N H Â N  B Ả N  •  S Á N G  T Ạ O  •  H Ộ I  N H Ậ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1719072"/>
            <a:ext cx="64008" cy="530352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3037</Words>
  <Application>Microsoft Office PowerPoint</Application>
  <PresentationFormat>Widescreen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Thang. Cao Duc</cp:lastModifiedBy>
  <cp:revision>3</cp:revision>
  <dcterms:created xsi:type="dcterms:W3CDTF">2013-01-27T09:14:16Z</dcterms:created>
  <dcterms:modified xsi:type="dcterms:W3CDTF">2026-10-08T09:14:32Z</dcterms:modified>
  <cp:category/>
</cp:coreProperties>
</file>